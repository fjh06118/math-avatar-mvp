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32F4C"/>
                </a:solidFill>
                <a:latin typeface="Microsoft YaHei"/>
              </a:rPr>
              <a:t>极限：从直观到定义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E6C7C"/>
                </a:solidFill>
                <a:latin typeface="Microsoft YaHei"/>
              </a:rPr>
              <a:t>普通文本页：用于验证标题、段落和课堂提示的提取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349240" cy="1600200"/>
          </a:xfrm>
          <a:prstGeom prst="roundRect">
            <a:avLst/>
          </a:prstGeom>
          <a:solidFill>
            <a:srgbClr val="E8F2FC"/>
          </a:solidFill>
          <a:ln>
            <a:solidFill>
              <a:srgbClr val="29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/>
            <a:r>
              <a:rPr sz="1600" b="1">
                <a:solidFill>
                  <a:srgbClr val="132F4C"/>
                </a:solidFill>
                <a:latin typeface="Microsoft YaHei"/>
              </a:rPr>
              <a:t>学习目标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02A35"/>
                </a:solidFill>
                <a:latin typeface="Microsoft YaHei"/>
              </a:rPr>
              <a:t>理解“函数值靠近某个数”的含义；区分自变量趋近与函数值相等。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508760"/>
            <a:ext cx="5349240" cy="1600200"/>
          </a:xfrm>
          <a:prstGeom prst="roundRect">
            <a:avLst/>
          </a:prstGeom>
          <a:solidFill>
            <a:srgbClr val="E8F2FC"/>
          </a:solidFill>
          <a:ln>
            <a:solidFill>
              <a:srgbClr val="29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/>
            <a:r>
              <a:rPr sz="1600" b="1">
                <a:solidFill>
                  <a:srgbClr val="132F4C"/>
                </a:solidFill>
                <a:latin typeface="Microsoft YaHei"/>
              </a:rPr>
              <a:t>课堂提示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02A35"/>
                </a:solidFill>
                <a:latin typeface="Microsoft YaHei"/>
              </a:rPr>
              <a:t>观察 x 从左右两侧靠近 2 时，f(x) 的变化趋势。先描述图像，再写符号。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429000"/>
            <a:ext cx="1090879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A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30752"/>
            <a:ext cx="1028700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202A35"/>
                </a:solidFill>
                <a:latin typeface="Microsoft YaHei"/>
              </a:rPr>
              <a:t>例：若 x 不断靠近 2，且 f(x) 不断靠近 5，我们记作“当 x 趋近于 2 时，f(x) 的极限是 5”。
讨论问题：函数在 x=2 处是否必须有定义？函数值是否必须等于 5？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32F4C"/>
                </a:solidFill>
                <a:latin typeface="Microsoft YaHei"/>
              </a:rPr>
              <a:t>重要极限与导数定义</a:t>
            </a:r>
            <m:oMath xmlns:m="http://schemas.openxmlformats.org/officeDocument/2006/math">
              <m:limLow>
                <m:lim>
                  <m:r>
                    <m:t>lim</m:t>
                  </m:r>
                </m:lim>
                <m:lim>
                  <m:r>
                    <m:t>x→0</m:t>
                  </m:r>
                </m:lim>
              </m:limLow>
              <m:r>
                <m:t> sin x / x = 1</m:t>
              </m:r>
            </m:oMath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E6C7C"/>
                </a:solidFill>
                <a:latin typeface="Microsoft YaHei"/>
              </a:rPr>
              <a:t>OMML 公式页：用于验证 Office Math XML 的提取和人工公式审核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554480"/>
            <a:ext cx="10058400" cy="1417320"/>
          </a:xfrm>
          <a:prstGeom prst="roundRect">
            <a:avLst/>
          </a:prstGeom>
          <a:solidFill>
            <a:srgbClr val="E8F2FC"/>
          </a:solidFill>
          <a:ln>
            <a:solidFill>
              <a:srgbClr val="29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901952"/>
            <a:ext cx="9326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32F4C"/>
                </a:solidFill>
                <a:latin typeface="Microsoft YaHei"/>
              </a:rPr>
              <a:t>lim x→0   sin x / x =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3429000"/>
            <a:ext cx="4800600" cy="1508760"/>
          </a:xfrm>
          <a:prstGeom prst="roundRect">
            <a:avLst/>
          </a:prstGeom>
          <a:solidFill>
            <a:srgbClr val="E8F2FC"/>
          </a:solidFill>
          <a:ln>
            <a:solidFill>
              <a:srgbClr val="29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/>
            <a:r>
              <a:rPr sz="1600" b="1">
                <a:solidFill>
                  <a:srgbClr val="132F4C"/>
                </a:solidFill>
                <a:latin typeface="Microsoft YaHei"/>
              </a:rPr>
              <a:t>使用条件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02A35"/>
                </a:solidFill>
                <a:latin typeface="Microsoft YaHei"/>
              </a:rPr>
              <a:t>角度使用弧度制；先确认分子和分母在极限点附近的变化。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429000"/>
            <a:ext cx="4800600" cy="1508760"/>
          </a:xfrm>
          <a:prstGeom prst="roundRect">
            <a:avLst/>
          </a:prstGeom>
          <a:solidFill>
            <a:srgbClr val="E8F2FC"/>
          </a:solidFill>
          <a:ln>
            <a:solidFill>
              <a:srgbClr val="29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/>
            <a:r>
              <a:rPr sz="1600" b="1">
                <a:solidFill>
                  <a:srgbClr val="132F4C"/>
                </a:solidFill>
                <a:latin typeface="Microsoft YaHei"/>
              </a:rPr>
              <a:t>推导连接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02A35"/>
                </a:solidFill>
                <a:latin typeface="Microsoft YaHei"/>
              </a:rPr>
              <a:t>把该极限代入差商，可得到 sin x 在 0 点的导数为 1。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32F4C"/>
                </a:solidFill>
                <a:latin typeface="Microsoft YaHei"/>
              </a:rPr>
              <a:t>连续性的图像判定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E6C7C"/>
                </a:solidFill>
                <a:latin typeface="Microsoft YaHei"/>
              </a:rPr>
              <a:t>拥挤图文页：用于验证复杂布局、图形和安全区的人工审核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2880360" cy="960120"/>
          </a:xfrm>
          <a:prstGeom prst="roundRect">
            <a:avLst/>
          </a:prstGeom>
          <a:solidFill>
            <a:srgbClr val="E8F2FC"/>
          </a:solidFill>
          <a:ln>
            <a:solidFill>
              <a:srgbClr val="29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/>
            <a:r>
              <a:rPr sz="1600" b="1">
                <a:solidFill>
                  <a:srgbClr val="132F4C"/>
                </a:solidFill>
                <a:latin typeface="Microsoft YaHei"/>
              </a:rPr>
              <a:t>判定一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02A35"/>
                </a:solidFill>
                <a:latin typeface="Microsoft YaHei"/>
              </a:rPr>
              <a:t>左右极限存在且相等。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514600"/>
            <a:ext cx="2880360" cy="960120"/>
          </a:xfrm>
          <a:prstGeom prst="roundRect">
            <a:avLst/>
          </a:prstGeom>
          <a:solidFill>
            <a:srgbClr val="E8F2FC"/>
          </a:solidFill>
          <a:ln>
            <a:solidFill>
              <a:srgbClr val="29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/>
            <a:r>
              <a:rPr sz="1600" b="1">
                <a:solidFill>
                  <a:srgbClr val="132F4C"/>
                </a:solidFill>
                <a:latin typeface="Microsoft YaHei"/>
              </a:rPr>
              <a:t>判定二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02A35"/>
                </a:solidFill>
                <a:latin typeface="Microsoft YaHei"/>
              </a:rPr>
              <a:t>函数在该点有定义。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657600"/>
            <a:ext cx="2880360" cy="960120"/>
          </a:xfrm>
          <a:prstGeom prst="roundRect">
            <a:avLst/>
          </a:prstGeom>
          <a:solidFill>
            <a:srgbClr val="E8F2FC"/>
          </a:solidFill>
          <a:ln>
            <a:solidFill>
              <a:srgbClr val="29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/>
            <a:r>
              <a:rPr sz="1600" b="1">
                <a:solidFill>
                  <a:srgbClr val="132F4C"/>
                </a:solidFill>
                <a:latin typeface="Microsoft YaHei"/>
              </a:rPr>
              <a:t>判定三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02A35"/>
                </a:solidFill>
                <a:latin typeface="Microsoft YaHei"/>
              </a:rPr>
              <a:t>函数值等于极限值。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00600"/>
            <a:ext cx="2880360" cy="960120"/>
          </a:xfrm>
          <a:prstGeom prst="roundRect">
            <a:avLst/>
          </a:prstGeom>
          <a:solidFill>
            <a:srgbClr val="E8F2FC"/>
          </a:solidFill>
          <a:ln>
            <a:solidFill>
              <a:srgbClr val="29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09728"/>
          <a:lstStyle/>
          <a:p>
            <a:pPr algn="ctr"/>
            <a:r>
              <a:rPr sz="1600" b="1">
                <a:solidFill>
                  <a:srgbClr val="132F4C"/>
                </a:solidFill>
                <a:latin typeface="Microsoft YaHei"/>
              </a:rPr>
              <a:t>易错点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02A35"/>
                </a:solidFill>
                <a:latin typeface="Microsoft YaHei"/>
              </a:rPr>
              <a:t>只检查图像不断开还不够。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371600"/>
            <a:ext cx="4709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A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5074920"/>
            <a:ext cx="3749039" cy="27432"/>
          </a:xfrm>
          <a:prstGeom prst="rect">
            <a:avLst/>
          </a:prstGeom>
          <a:solidFill>
            <a:srgbClr val="5E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97880" y="1828800"/>
            <a:ext cx="27432" cy="3246120"/>
          </a:xfrm>
          <a:prstGeom prst="rect">
            <a:avLst/>
          </a:prstGeom>
          <a:solidFill>
            <a:srgbClr val="5E6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97680" y="3657600"/>
            <a:ext cx="146304" cy="146304"/>
          </a:xfrm>
          <a:prstGeom prst="ellipse">
            <a:avLst/>
          </a:prstGeom>
          <a:solidFill>
            <a:srgbClr val="29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00600" y="3200400"/>
            <a:ext cx="146304" cy="146304"/>
          </a:xfrm>
          <a:prstGeom prst="ellipse">
            <a:avLst/>
          </a:prstGeom>
          <a:solidFill>
            <a:srgbClr val="29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03520" y="2926080"/>
            <a:ext cx="146304" cy="146304"/>
          </a:xfrm>
          <a:prstGeom prst="ellipse">
            <a:avLst/>
          </a:prstGeom>
          <a:solidFill>
            <a:srgbClr val="29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06440" y="3200400"/>
            <a:ext cx="146304" cy="146304"/>
          </a:xfrm>
          <a:prstGeom prst="ellipse">
            <a:avLst/>
          </a:prstGeom>
          <a:solidFill>
            <a:srgbClr val="29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9360" y="3657600"/>
            <a:ext cx="146304" cy="146304"/>
          </a:xfrm>
          <a:prstGeom prst="ellipse">
            <a:avLst/>
          </a:prstGeom>
          <a:solidFill>
            <a:srgbClr val="29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12280" y="4206240"/>
            <a:ext cx="146304" cy="146304"/>
          </a:xfrm>
          <a:prstGeom prst="ellipse">
            <a:avLst/>
          </a:prstGeom>
          <a:solidFill>
            <a:srgbClr val="29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4709160"/>
            <a:ext cx="146304" cy="146304"/>
          </a:xfrm>
          <a:prstGeom prst="ellipse">
            <a:avLst/>
          </a:prstGeom>
          <a:solidFill>
            <a:srgbClr val="29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24728" y="2852928"/>
            <a:ext cx="246888" cy="2468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78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2770632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E78B38"/>
                </a:solidFill>
                <a:latin typeface="Microsoft YaHei"/>
              </a:rPr>
              <a:t>缺口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49834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E6C7C"/>
                </a:solidFill>
                <a:latin typeface="Microsoft YaHei"/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157276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E6C7C"/>
                </a:solidFill>
                <a:latin typeface="Microsoft YaHei"/>
              </a:rPr>
              <a:t>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534924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E6C7C"/>
                </a:solidFill>
                <a:latin typeface="Microsoft YaHei"/>
              </a:rPr>
              <a:t>图像观察：在缺口两侧函数值趋于同一高度，但还需检查该点函数值。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1371600"/>
            <a:ext cx="2953512" cy="4480560"/>
          </a:xfrm>
          <a:prstGeom prst="roundRect">
            <a:avLst/>
          </a:prstGeom>
          <a:solidFill>
            <a:srgbClr val="FFF7E8"/>
          </a:solidFill>
          <a:ln>
            <a:solidFill>
              <a:srgbClr val="E78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166420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32F4C"/>
                </a:solidFill>
                <a:latin typeface="Microsoft YaHei"/>
              </a:rPr>
              <a:t>课堂问题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240280"/>
            <a:ext cx="224028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02A35"/>
                </a:solidFill>
                <a:latin typeface="Microsoft YaHei"/>
              </a:rPr>
              <a:t>1. 补上缺口后连续吗？
2. 若函数值改为 3，结论如何？
3. 怎样用极限语言完整表述？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4800600"/>
            <a:ext cx="2331720" cy="502920"/>
          </a:xfrm>
          <a:prstGeom prst="roundRect">
            <a:avLst/>
          </a:prstGeom>
          <a:solidFill>
            <a:srgbClr val="3C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4910328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先极限，后函数值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